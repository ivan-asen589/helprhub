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Rockwell" panose="02060603020205020403" pitchFamily="18" charset="0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44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79C95-4B5F-4424-8A50-9A69D47F043F}" v="718" dt="2026-03-27T22:54:53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1.jpe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B76403-33F2-1E88-D882-FC3EBBDACC7C}"/>
              </a:ext>
            </a:extLst>
          </p:cNvPr>
          <p:cNvSpPr/>
          <p:nvPr/>
        </p:nvSpPr>
        <p:spPr>
          <a:xfrm>
            <a:off x="6535594" y="6788976"/>
            <a:ext cx="5574103" cy="26896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36176" y="-92431"/>
            <a:ext cx="18288000" cy="6283690"/>
          </a:xfrm>
          <a:custGeom>
            <a:avLst/>
            <a:gdLst/>
            <a:ahLst/>
            <a:cxnLst/>
            <a:rect l="l" t="t" r="r" b="b"/>
            <a:pathLst>
              <a:path w="18288000" h="6283690">
                <a:moveTo>
                  <a:pt x="0" y="0"/>
                </a:moveTo>
                <a:lnTo>
                  <a:pt x="18288000" y="0"/>
                </a:lnTo>
                <a:lnTo>
                  <a:pt x="18288000" y="6283691"/>
                </a:lnTo>
                <a:lnTo>
                  <a:pt x="0" y="62836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22856" y="2409768"/>
            <a:ext cx="1986620" cy="1738293"/>
          </a:xfrm>
          <a:custGeom>
            <a:avLst/>
            <a:gdLst/>
            <a:ahLst/>
            <a:cxnLst/>
            <a:rect l="l" t="t" r="r" b="b"/>
            <a:pathLst>
              <a:path w="1986620" h="1738293">
                <a:moveTo>
                  <a:pt x="0" y="0"/>
                </a:moveTo>
                <a:lnTo>
                  <a:pt x="1986619" y="0"/>
                </a:lnTo>
                <a:lnTo>
                  <a:pt x="1986619" y="1738293"/>
                </a:lnTo>
                <a:lnTo>
                  <a:pt x="0" y="17382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38318" y="3269923"/>
            <a:ext cx="573424" cy="28575"/>
            <a:chOff x="0" y="0"/>
            <a:chExt cx="764565" cy="38100"/>
          </a:xfrm>
        </p:grpSpPr>
        <p:sp>
          <p:nvSpPr>
            <p:cNvPr id="5" name="Freeform 5"/>
            <p:cNvSpPr/>
            <p:nvPr/>
          </p:nvSpPr>
          <p:spPr>
            <a:xfrm>
              <a:off x="19050" y="0"/>
              <a:ext cx="726440" cy="38100"/>
            </a:xfrm>
            <a:custGeom>
              <a:avLst/>
              <a:gdLst/>
              <a:ahLst/>
              <a:cxnLst/>
              <a:rect l="l" t="t" r="r" b="b"/>
              <a:pathLst>
                <a:path w="726440" h="38100">
                  <a:moveTo>
                    <a:pt x="0" y="0"/>
                  </a:moveTo>
                  <a:lnTo>
                    <a:pt x="726440" y="0"/>
                  </a:lnTo>
                  <a:lnTo>
                    <a:pt x="7264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383167" y="2813485"/>
            <a:ext cx="209998" cy="485023"/>
            <a:chOff x="0" y="0"/>
            <a:chExt cx="279997" cy="646697"/>
          </a:xfrm>
        </p:grpSpPr>
        <p:sp>
          <p:nvSpPr>
            <p:cNvPr id="7" name="Freeform 7"/>
            <p:cNvSpPr/>
            <p:nvPr/>
          </p:nvSpPr>
          <p:spPr>
            <a:xfrm>
              <a:off x="1397" y="12065"/>
              <a:ext cx="277241" cy="622554"/>
            </a:xfrm>
            <a:custGeom>
              <a:avLst/>
              <a:gdLst/>
              <a:ahLst/>
              <a:cxnLst/>
              <a:rect l="l" t="t" r="r" b="b"/>
              <a:pathLst>
                <a:path w="277241" h="622554">
                  <a:moveTo>
                    <a:pt x="0" y="608584"/>
                  </a:moveTo>
                  <a:lnTo>
                    <a:pt x="241808" y="0"/>
                  </a:lnTo>
                  <a:lnTo>
                    <a:pt x="277241" y="14097"/>
                  </a:lnTo>
                  <a:lnTo>
                    <a:pt x="35306" y="622554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564580" y="2820762"/>
            <a:ext cx="311410" cy="924554"/>
            <a:chOff x="0" y="0"/>
            <a:chExt cx="415214" cy="1232738"/>
          </a:xfrm>
        </p:grpSpPr>
        <p:sp>
          <p:nvSpPr>
            <p:cNvPr id="9" name="Freeform 9"/>
            <p:cNvSpPr/>
            <p:nvPr/>
          </p:nvSpPr>
          <p:spPr>
            <a:xfrm>
              <a:off x="889" y="13335"/>
              <a:ext cx="413385" cy="1205992"/>
            </a:xfrm>
            <a:custGeom>
              <a:avLst/>
              <a:gdLst/>
              <a:ahLst/>
              <a:cxnLst/>
              <a:rect l="l" t="t" r="r" b="b"/>
              <a:pathLst>
                <a:path w="413385" h="1205992">
                  <a:moveTo>
                    <a:pt x="36322" y="0"/>
                  </a:moveTo>
                  <a:lnTo>
                    <a:pt x="413385" y="1194562"/>
                  </a:lnTo>
                  <a:lnTo>
                    <a:pt x="377063" y="1205992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4847425" y="3269923"/>
            <a:ext cx="226895" cy="468116"/>
            <a:chOff x="0" y="0"/>
            <a:chExt cx="302527" cy="624154"/>
          </a:xfrm>
        </p:grpSpPr>
        <p:sp>
          <p:nvSpPr>
            <p:cNvPr id="11" name="Freeform 11"/>
            <p:cNvSpPr/>
            <p:nvPr/>
          </p:nvSpPr>
          <p:spPr>
            <a:xfrm>
              <a:off x="1651" y="11176"/>
              <a:ext cx="299085" cy="601726"/>
            </a:xfrm>
            <a:custGeom>
              <a:avLst/>
              <a:gdLst/>
              <a:ahLst/>
              <a:cxnLst/>
              <a:rect l="l" t="t" r="r" b="b"/>
              <a:pathLst>
                <a:path w="299085" h="601726">
                  <a:moveTo>
                    <a:pt x="0" y="586105"/>
                  </a:moveTo>
                  <a:lnTo>
                    <a:pt x="264414" y="0"/>
                  </a:lnTo>
                  <a:lnTo>
                    <a:pt x="299085" y="15621"/>
                  </a:lnTo>
                  <a:lnTo>
                    <a:pt x="34798" y="60172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045745" y="3262646"/>
            <a:ext cx="548068" cy="35852"/>
            <a:chOff x="0" y="0"/>
            <a:chExt cx="730758" cy="47803"/>
          </a:xfrm>
        </p:grpSpPr>
        <p:sp>
          <p:nvSpPr>
            <p:cNvPr id="13" name="Freeform 13"/>
            <p:cNvSpPr/>
            <p:nvPr/>
          </p:nvSpPr>
          <p:spPr>
            <a:xfrm>
              <a:off x="18796" y="0"/>
              <a:ext cx="693166" cy="47752"/>
            </a:xfrm>
            <a:custGeom>
              <a:avLst/>
              <a:gdLst/>
              <a:ahLst/>
              <a:cxnLst/>
              <a:rect l="l" t="t" r="r" b="b"/>
              <a:pathLst>
                <a:path w="693166" h="47752">
                  <a:moveTo>
                    <a:pt x="508" y="0"/>
                  </a:moveTo>
                  <a:lnTo>
                    <a:pt x="693166" y="9652"/>
                  </a:lnTo>
                  <a:lnTo>
                    <a:pt x="692658" y="47752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0131382" y="6960605"/>
            <a:ext cx="1334248" cy="2362638"/>
            <a:chOff x="0" y="0"/>
            <a:chExt cx="8896769" cy="31501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96858" cy="3150235"/>
            </a:xfrm>
            <a:custGeom>
              <a:avLst/>
              <a:gdLst/>
              <a:ahLst/>
              <a:cxnLst/>
              <a:rect l="l" t="t" r="r" b="b"/>
              <a:pathLst>
                <a:path w="8896858" h="3150235">
                  <a:moveTo>
                    <a:pt x="299593" y="0"/>
                  </a:moveTo>
                  <a:lnTo>
                    <a:pt x="8597265" y="0"/>
                  </a:lnTo>
                  <a:cubicBezTo>
                    <a:pt x="8762747" y="0"/>
                    <a:pt x="8896858" y="134112"/>
                    <a:pt x="8896858" y="299593"/>
                  </a:cubicBezTo>
                  <a:lnTo>
                    <a:pt x="8896858" y="2850642"/>
                  </a:lnTo>
                  <a:cubicBezTo>
                    <a:pt x="8896858" y="3016123"/>
                    <a:pt x="8762747" y="3150235"/>
                    <a:pt x="8597265" y="3150235"/>
                  </a:cubicBezTo>
                  <a:lnTo>
                    <a:pt x="299593" y="3150235"/>
                  </a:lnTo>
                  <a:cubicBezTo>
                    <a:pt x="134112" y="3150235"/>
                    <a:pt x="0" y="3016123"/>
                    <a:pt x="0" y="2850642"/>
                  </a:cubicBezTo>
                  <a:lnTo>
                    <a:pt x="0" y="299593"/>
                  </a:lnTo>
                  <a:cubicBezTo>
                    <a:pt x="0" y="134112"/>
                    <a:pt x="134112" y="0"/>
                    <a:pt x="2995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532089" y="1983722"/>
            <a:ext cx="8261271" cy="21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50"/>
              </a:lnSpc>
            </a:pPr>
            <a:r>
              <a:rPr lang="en-US" sz="135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HelprHub</a:t>
            </a:r>
            <a:endParaRPr lang="en-US" sz="13500" b="1" dirty="0" err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76796" y="7509519"/>
            <a:ext cx="5292500" cy="9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8"/>
              </a:lnSpc>
            </a:pPr>
            <a:r>
              <a:rPr lang="en-US" sz="54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Отбор Тухла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8B5577-1F0D-AE6F-4E10-9E94F06905AA}"/>
              </a:ext>
            </a:extLst>
          </p:cNvPr>
          <p:cNvSpPr/>
          <p:nvPr/>
        </p:nvSpPr>
        <p:spPr>
          <a:xfrm>
            <a:off x="4392011" y="4027614"/>
            <a:ext cx="9491568" cy="35471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 hidden="1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0058410" y="1258977"/>
            <a:ext cx="1041837" cy="3304318"/>
          </a:xfrm>
          <a:custGeom>
            <a:avLst/>
            <a:gdLst/>
            <a:ahLst/>
            <a:cxnLst/>
            <a:rect l="l" t="t" r="r" b="b"/>
            <a:pathLst>
              <a:path w="13225177" h="3304318">
                <a:moveTo>
                  <a:pt x="0" y="0"/>
                </a:moveTo>
                <a:lnTo>
                  <a:pt x="13225177" y="0"/>
                </a:lnTo>
                <a:lnTo>
                  <a:pt x="13225177" y="3304318"/>
                </a:lnTo>
                <a:lnTo>
                  <a:pt x="0" y="3304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5" name="TextBox 15"/>
          <p:cNvSpPr txBox="1"/>
          <p:nvPr/>
        </p:nvSpPr>
        <p:spPr>
          <a:xfrm>
            <a:off x="1378635" y="359154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317938" y="569801"/>
            <a:ext cx="11636550" cy="96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Проблемите</a:t>
            </a:r>
            <a:endParaRPr lang="en-US" sz="6000" b="1" dirty="0" err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1916337" y="-1124"/>
            <a:ext cx="2355475" cy="2288238"/>
            <a:chOff x="0" y="0"/>
            <a:chExt cx="3140634" cy="3050984"/>
          </a:xfrm>
        </p:grpSpPr>
        <p:sp>
          <p:nvSpPr>
            <p:cNvPr id="18" name="Freeform 18" descr="Problem - Free business and finance icons"/>
            <p:cNvSpPr/>
            <p:nvPr/>
          </p:nvSpPr>
          <p:spPr>
            <a:xfrm>
              <a:off x="0" y="0"/>
              <a:ext cx="3140583" cy="3051048"/>
            </a:xfrm>
            <a:custGeom>
              <a:avLst/>
              <a:gdLst/>
              <a:ahLst/>
              <a:cxnLst/>
              <a:rect l="l" t="t" r="r" b="b"/>
              <a:pathLst>
                <a:path w="3140583" h="3051048">
                  <a:moveTo>
                    <a:pt x="0" y="0"/>
                  </a:moveTo>
                  <a:lnTo>
                    <a:pt x="3140583" y="0"/>
                  </a:lnTo>
                  <a:lnTo>
                    <a:pt x="3140583" y="3051048"/>
                  </a:lnTo>
                  <a:lnTo>
                    <a:pt x="0" y="3051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68" r="-1" b="-146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121015" y="6638364"/>
            <a:ext cx="4537465" cy="3909523"/>
            <a:chOff x="0" y="0"/>
            <a:chExt cx="5062817" cy="4485335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5062855" cy="4485386"/>
            </a:xfrm>
            <a:custGeom>
              <a:avLst/>
              <a:gdLst/>
              <a:ahLst/>
              <a:cxnLst/>
              <a:rect l="l" t="t" r="r" b="b"/>
              <a:pathLst>
                <a:path w="5062855" h="4485386">
                  <a:moveTo>
                    <a:pt x="0" y="0"/>
                  </a:moveTo>
                  <a:lnTo>
                    <a:pt x="5062855" y="0"/>
                  </a:lnTo>
                  <a:lnTo>
                    <a:pt x="5062855" y="4485386"/>
                  </a:lnTo>
                  <a:lnTo>
                    <a:pt x="0" y="4485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95" b="-294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0178166" y="-952142"/>
            <a:ext cx="1879837" cy="954896"/>
            <a:chOff x="0" y="0"/>
            <a:chExt cx="2776825" cy="10519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76825" cy="1051980"/>
            </a:xfrm>
            <a:custGeom>
              <a:avLst/>
              <a:gdLst/>
              <a:ahLst/>
              <a:cxnLst/>
              <a:rect l="l" t="t" r="r" b="b"/>
              <a:pathLst>
                <a:path w="2776825" h="1051980">
                  <a:moveTo>
                    <a:pt x="37449" y="0"/>
                  </a:moveTo>
                  <a:lnTo>
                    <a:pt x="2739376" y="0"/>
                  </a:lnTo>
                  <a:cubicBezTo>
                    <a:pt x="2760058" y="0"/>
                    <a:pt x="2776825" y="16767"/>
                    <a:pt x="2776825" y="37449"/>
                  </a:cubicBezTo>
                  <a:lnTo>
                    <a:pt x="2776825" y="1014530"/>
                  </a:lnTo>
                  <a:cubicBezTo>
                    <a:pt x="2776825" y="1024463"/>
                    <a:pt x="2772880" y="1033988"/>
                    <a:pt x="2765856" y="1041011"/>
                  </a:cubicBezTo>
                  <a:cubicBezTo>
                    <a:pt x="2758833" y="1048034"/>
                    <a:pt x="2749308" y="1051980"/>
                    <a:pt x="2739376" y="1051980"/>
                  </a:cubicBezTo>
                  <a:lnTo>
                    <a:pt x="37449" y="1051980"/>
                  </a:lnTo>
                  <a:cubicBezTo>
                    <a:pt x="16767" y="1051980"/>
                    <a:pt x="0" y="1035213"/>
                    <a:pt x="0" y="1014530"/>
                  </a:cubicBezTo>
                  <a:lnTo>
                    <a:pt x="0" y="37449"/>
                  </a:lnTo>
                  <a:cubicBezTo>
                    <a:pt x="0" y="27517"/>
                    <a:pt x="3946" y="17992"/>
                    <a:pt x="10969" y="10969"/>
                  </a:cubicBezTo>
                  <a:cubicBezTo>
                    <a:pt x="17992" y="3946"/>
                    <a:pt x="27517" y="0"/>
                    <a:pt x="374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776825" cy="1090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13864" y="4477641"/>
            <a:ext cx="8258603" cy="310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86"/>
              </a:lnSpc>
            </a:pP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Затрудненията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хората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които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имат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увреждания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правене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най-ежедневни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действия</a:t>
            </a:r>
            <a:r>
              <a:rPr lang="en-US" sz="34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345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algn="l">
              <a:lnSpc>
                <a:spcPts val="4886"/>
              </a:lnSpc>
            </a:pPr>
            <a:endParaRPr lang="en-US" sz="349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86"/>
              </a:lnSpc>
            </a:pPr>
            <a:endParaRPr lang="en-US" sz="349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8F7F4F-E85B-D4DD-AFFE-A12F61A5B12E}"/>
              </a:ext>
            </a:extLst>
          </p:cNvPr>
          <p:cNvCxnSpPr/>
          <p:nvPr/>
        </p:nvCxnSpPr>
        <p:spPr>
          <a:xfrm>
            <a:off x="652462" y="395287"/>
            <a:ext cx="121443" cy="350043"/>
          </a:xfrm>
          <a:prstGeom prst="straightConnector1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20BB15E-A2D4-FC56-CCD7-F0FFBE5CD6F4}"/>
              </a:ext>
            </a:extLst>
          </p:cNvPr>
          <p:cNvSpPr/>
          <p:nvPr/>
        </p:nvSpPr>
        <p:spPr>
          <a:xfrm>
            <a:off x="5304764" y="4158132"/>
            <a:ext cx="7679009" cy="37030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5437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52658" y="281223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21095" y="565198"/>
            <a:ext cx="9247299" cy="96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Нашето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решение</a:t>
            </a:r>
            <a:endParaRPr lang="en-US" sz="6000" b="1" dirty="0" err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0415690" y="1591508"/>
            <a:ext cx="1353265" cy="3555636"/>
            <a:chOff x="0" y="0"/>
            <a:chExt cx="1628981" cy="9296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28981" cy="929622"/>
            </a:xfrm>
            <a:custGeom>
              <a:avLst/>
              <a:gdLst/>
              <a:ahLst/>
              <a:cxnLst/>
              <a:rect l="l" t="t" r="r" b="b"/>
              <a:pathLst>
                <a:path w="1628981" h="929622">
                  <a:moveTo>
                    <a:pt x="63838" y="0"/>
                  </a:moveTo>
                  <a:lnTo>
                    <a:pt x="1565143" y="0"/>
                  </a:lnTo>
                  <a:cubicBezTo>
                    <a:pt x="1600400" y="0"/>
                    <a:pt x="1628981" y="28581"/>
                    <a:pt x="1628981" y="63838"/>
                  </a:cubicBezTo>
                  <a:lnTo>
                    <a:pt x="1628981" y="865785"/>
                  </a:lnTo>
                  <a:cubicBezTo>
                    <a:pt x="1628981" y="901041"/>
                    <a:pt x="1600400" y="929622"/>
                    <a:pt x="1565143" y="929622"/>
                  </a:cubicBezTo>
                  <a:lnTo>
                    <a:pt x="63838" y="929622"/>
                  </a:lnTo>
                  <a:cubicBezTo>
                    <a:pt x="28581" y="929622"/>
                    <a:pt x="0" y="901041"/>
                    <a:pt x="0" y="865785"/>
                  </a:cubicBezTo>
                  <a:lnTo>
                    <a:pt x="0" y="63838"/>
                  </a:lnTo>
                  <a:cubicBezTo>
                    <a:pt x="0" y="28581"/>
                    <a:pt x="28581" y="0"/>
                    <a:pt x="638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28981" cy="967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52503" y="4488935"/>
            <a:ext cx="4980546" cy="403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4"/>
              </a:lnSpc>
            </a:pPr>
            <a:endParaRPr/>
          </a:p>
          <a:p>
            <a:pPr algn="l">
              <a:lnSpc>
                <a:spcPts val="5334"/>
              </a:lnSpc>
            </a:pPr>
            <a:r>
              <a:rPr lang="en-US" sz="3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Нашето</a:t>
            </a:r>
            <a:r>
              <a:rPr lang="en-US" sz="3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решение</a:t>
            </a:r>
            <a:r>
              <a:rPr lang="en-US" sz="3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endParaRPr lang="en-US" sz="380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870585" lvl="2" indent="-290195" algn="l">
              <a:lnSpc>
                <a:spcPts val="5334"/>
              </a:lnSpc>
              <a:buFont typeface="Arial"/>
              <a:buChar char="⚬"/>
            </a:pPr>
            <a:r>
              <a:rPr lang="en-US" sz="3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Доброволстване</a:t>
            </a:r>
            <a:r>
              <a:rPr lang="en-US" sz="3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</a:t>
            </a:r>
            <a:endParaRPr lang="en-US" sz="380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algn="l">
              <a:lnSpc>
                <a:spcPts val="5334"/>
              </a:lnSpc>
            </a:pPr>
            <a:endParaRPr lang="en-US" sz="381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algn="l">
              <a:lnSpc>
                <a:spcPts val="5334"/>
              </a:lnSpc>
            </a:pPr>
            <a:endParaRPr lang="en-US" sz="381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71346" lvl="2" indent="-290449" algn="l">
              <a:lnSpc>
                <a:spcPts val="5334"/>
              </a:lnSpc>
            </a:pPr>
            <a:endParaRPr lang="en-US" sz="381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730752" y="109585"/>
            <a:ext cx="2057400" cy="2219325"/>
            <a:chOff x="0" y="0"/>
            <a:chExt cx="2743200" cy="2959100"/>
          </a:xfrm>
        </p:grpSpPr>
        <p:sp>
          <p:nvSpPr>
            <p:cNvPr id="21" name="Freeform 21" descr="Download Idea Lightbulb Smiley Emoji | Wallpapers.com"/>
            <p:cNvSpPr/>
            <p:nvPr/>
          </p:nvSpPr>
          <p:spPr>
            <a:xfrm>
              <a:off x="0" y="0"/>
              <a:ext cx="2743200" cy="2959100"/>
            </a:xfrm>
            <a:custGeom>
              <a:avLst/>
              <a:gdLst/>
              <a:ahLst/>
              <a:cxnLst/>
              <a:rect l="l" t="t" r="r" b="b"/>
              <a:pathLst>
                <a:path w="2743200" h="2959100">
                  <a:moveTo>
                    <a:pt x="0" y="0"/>
                  </a:moveTo>
                  <a:lnTo>
                    <a:pt x="2743200" y="0"/>
                  </a:lnTo>
                  <a:lnTo>
                    <a:pt x="2743200" y="2959100"/>
                  </a:lnTo>
                  <a:lnTo>
                    <a:pt x="0" y="295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327" b="-9327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048069" y="6747997"/>
            <a:ext cx="4233758" cy="3548901"/>
            <a:chOff x="0" y="0"/>
            <a:chExt cx="5645010" cy="4731868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5645023" cy="4731893"/>
            </a:xfrm>
            <a:custGeom>
              <a:avLst/>
              <a:gdLst/>
              <a:ahLst/>
              <a:cxnLst/>
              <a:rect l="l" t="t" r="r" b="b"/>
              <a:pathLst>
                <a:path w="5645023" h="4731893">
                  <a:moveTo>
                    <a:pt x="0" y="0"/>
                  </a:moveTo>
                  <a:lnTo>
                    <a:pt x="5645023" y="0"/>
                  </a:lnTo>
                  <a:lnTo>
                    <a:pt x="5645023" y="4731893"/>
                  </a:lnTo>
                  <a:lnTo>
                    <a:pt x="0" y="473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979" b="-1979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43A1C73-0285-BC56-1733-05CBED308BA2}"/>
              </a:ext>
            </a:extLst>
          </p:cNvPr>
          <p:cNvSpPr/>
          <p:nvPr/>
        </p:nvSpPr>
        <p:spPr>
          <a:xfrm>
            <a:off x="2907262" y="4333086"/>
            <a:ext cx="12746376" cy="2903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00704" y="294211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92763" y="227986"/>
            <a:ext cx="6115641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Цел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на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проекта</a:t>
            </a:r>
            <a:endParaRPr lang="en-US" sz="6000" dirty="0" err="1">
              <a:solidFill>
                <a:srgbClr val="000000"/>
              </a:solidFill>
              <a:latin typeface="Tahoma"/>
              <a:ea typeface="Tahoma"/>
              <a:cs typeface="Tahoma"/>
              <a:sym typeface="Canva Sans Bold"/>
            </a:endParaRPr>
          </a:p>
        </p:txBody>
      </p:sp>
      <p:grpSp>
        <p:nvGrpSpPr>
          <p:cNvPr id="16" name="Group 16"/>
          <p:cNvGrpSpPr/>
          <p:nvPr/>
        </p:nvGrpSpPr>
        <p:grpSpPr>
          <a:xfrm flipH="1">
            <a:off x="19784826" y="3293297"/>
            <a:ext cx="1406453" cy="3802839"/>
            <a:chOff x="0" y="0"/>
            <a:chExt cx="2934142" cy="9878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34142" cy="987888"/>
            </a:xfrm>
            <a:custGeom>
              <a:avLst/>
              <a:gdLst/>
              <a:ahLst/>
              <a:cxnLst/>
              <a:rect l="l" t="t" r="r" b="b"/>
              <a:pathLst>
                <a:path w="2934142" h="987888">
                  <a:moveTo>
                    <a:pt x="35441" y="0"/>
                  </a:moveTo>
                  <a:lnTo>
                    <a:pt x="2898701" y="0"/>
                  </a:lnTo>
                  <a:cubicBezTo>
                    <a:pt x="2908100" y="0"/>
                    <a:pt x="2917115" y="3734"/>
                    <a:pt x="2923761" y="10381"/>
                  </a:cubicBezTo>
                  <a:cubicBezTo>
                    <a:pt x="2930408" y="17027"/>
                    <a:pt x="2934142" y="26042"/>
                    <a:pt x="2934142" y="35441"/>
                  </a:cubicBezTo>
                  <a:lnTo>
                    <a:pt x="2934142" y="952446"/>
                  </a:lnTo>
                  <a:cubicBezTo>
                    <a:pt x="2934142" y="961846"/>
                    <a:pt x="2930408" y="970861"/>
                    <a:pt x="2923761" y="977507"/>
                  </a:cubicBezTo>
                  <a:cubicBezTo>
                    <a:pt x="2917115" y="984154"/>
                    <a:pt x="2908100" y="987888"/>
                    <a:pt x="2898701" y="987888"/>
                  </a:cubicBezTo>
                  <a:lnTo>
                    <a:pt x="35441" y="987888"/>
                  </a:lnTo>
                  <a:cubicBezTo>
                    <a:pt x="26042" y="987888"/>
                    <a:pt x="17027" y="984154"/>
                    <a:pt x="10381" y="977507"/>
                  </a:cubicBezTo>
                  <a:cubicBezTo>
                    <a:pt x="3734" y="970861"/>
                    <a:pt x="0" y="961846"/>
                    <a:pt x="0" y="952446"/>
                  </a:cubicBezTo>
                  <a:lnTo>
                    <a:pt x="0" y="35441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934142" cy="10259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31033" y="4974200"/>
            <a:ext cx="10708672" cy="211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Помагане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хора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със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затруднена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мобилност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198"/>
              </a:lnSpc>
            </a:pP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свържем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хора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които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се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нуждаят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помощ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с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тези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които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помагат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>
              <a:lnSpc>
                <a:spcPts val="4198"/>
              </a:lnSpc>
            </a:pPr>
            <a:endParaRPr lang="en-US" sz="295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538262" y="-1124"/>
            <a:ext cx="2540375" cy="2439524"/>
            <a:chOff x="0" y="0"/>
            <a:chExt cx="3387166" cy="3252699"/>
          </a:xfrm>
        </p:grpSpPr>
        <p:sp>
          <p:nvSpPr>
            <p:cNvPr id="21" name="Freeform 21" descr="Project - Free icons"/>
            <p:cNvSpPr/>
            <p:nvPr/>
          </p:nvSpPr>
          <p:spPr>
            <a:xfrm>
              <a:off x="0" y="0"/>
              <a:ext cx="3387217" cy="3252724"/>
            </a:xfrm>
            <a:custGeom>
              <a:avLst/>
              <a:gdLst/>
              <a:ahLst/>
              <a:cxnLst/>
              <a:rect l="l" t="t" r="r" b="b"/>
              <a:pathLst>
                <a:path w="3387217" h="3252724">
                  <a:moveTo>
                    <a:pt x="0" y="0"/>
                  </a:moveTo>
                  <a:lnTo>
                    <a:pt x="3387217" y="0"/>
                  </a:lnTo>
                  <a:lnTo>
                    <a:pt x="3387217" y="3252724"/>
                  </a:lnTo>
                  <a:lnTo>
                    <a:pt x="0" y="3252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66" r="1" b="-206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3780999" y="6028357"/>
            <a:ext cx="4509249" cy="4648200"/>
            <a:chOff x="0" y="0"/>
            <a:chExt cx="6012332" cy="619760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6012307" cy="6197600"/>
            </a:xfrm>
            <a:custGeom>
              <a:avLst/>
              <a:gdLst/>
              <a:ahLst/>
              <a:cxnLst/>
              <a:rect l="l" t="t" r="r" b="b"/>
              <a:pathLst>
                <a:path w="6012307" h="6197600">
                  <a:moveTo>
                    <a:pt x="0" y="0"/>
                  </a:moveTo>
                  <a:lnTo>
                    <a:pt x="6012307" y="0"/>
                  </a:lnTo>
                  <a:lnTo>
                    <a:pt x="6012307" y="6197600"/>
                  </a:lnTo>
                  <a:lnTo>
                    <a:pt x="0" y="619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81" r="-2981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356E2F-AE2A-6724-FE3D-4AF2D5CBC2B4}"/>
              </a:ext>
            </a:extLst>
          </p:cNvPr>
          <p:cNvSpPr/>
          <p:nvPr/>
        </p:nvSpPr>
        <p:spPr>
          <a:xfrm>
            <a:off x="3118449" y="4703200"/>
            <a:ext cx="12044741" cy="27675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Freeform 14"/>
          <p:cNvSpPr/>
          <p:nvPr/>
        </p:nvSpPr>
        <p:spPr>
          <a:xfrm flipH="1">
            <a:off x="19177738" y="3402140"/>
            <a:ext cx="124895" cy="2485739"/>
          </a:xfrm>
          <a:custGeom>
            <a:avLst/>
            <a:gdLst/>
            <a:ahLst/>
            <a:cxnLst/>
            <a:rect l="l" t="t" r="r" b="b"/>
            <a:pathLst>
              <a:path w="12902708" h="2485739">
                <a:moveTo>
                  <a:pt x="0" y="0"/>
                </a:moveTo>
                <a:lnTo>
                  <a:pt x="12902708" y="0"/>
                </a:lnTo>
                <a:lnTo>
                  <a:pt x="12902708" y="2485740"/>
                </a:lnTo>
                <a:lnTo>
                  <a:pt x="0" y="2485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65119" y="127271"/>
            <a:ext cx="8757761" cy="204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Как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работи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проектът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?​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223767" y="141894"/>
            <a:ext cx="2143125" cy="2143125"/>
            <a:chOff x="0" y="0"/>
            <a:chExt cx="2857500" cy="2857500"/>
          </a:xfrm>
        </p:grpSpPr>
        <p:sp>
          <p:nvSpPr>
            <p:cNvPr id="17" name="Freeform 17" descr="Work process - Free business and finance icons"/>
            <p:cNvSpPr/>
            <p:nvPr/>
          </p:nvSpPr>
          <p:spPr>
            <a:xfrm>
              <a:off x="0" y="0"/>
              <a:ext cx="2857500" cy="2857500"/>
            </a:xfrm>
            <a:custGeom>
              <a:avLst/>
              <a:gdLst/>
              <a:ahLst/>
              <a:cxnLst/>
              <a:rect l="l" t="t" r="r" b="b"/>
              <a:pathLst>
                <a:path w="2857500" h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727457" y="6609345"/>
            <a:ext cx="5217738" cy="4104227"/>
            <a:chOff x="0" y="0"/>
            <a:chExt cx="6956984" cy="547230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956933" cy="5472303"/>
            </a:xfrm>
            <a:custGeom>
              <a:avLst/>
              <a:gdLst/>
              <a:ahLst/>
              <a:cxnLst/>
              <a:rect l="l" t="t" r="r" b="b"/>
              <a:pathLst>
                <a:path w="6956933" h="5472303">
                  <a:moveTo>
                    <a:pt x="0" y="0"/>
                  </a:moveTo>
                  <a:lnTo>
                    <a:pt x="6956933" y="0"/>
                  </a:lnTo>
                  <a:lnTo>
                    <a:pt x="6956933" y="5472303"/>
                  </a:lnTo>
                  <a:lnTo>
                    <a:pt x="0" y="5472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4" r="-25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9512246" y="3718036"/>
            <a:ext cx="348403" cy="3166823"/>
            <a:chOff x="0" y="0"/>
            <a:chExt cx="2862669" cy="8169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62669" cy="816956"/>
            </a:xfrm>
            <a:custGeom>
              <a:avLst/>
              <a:gdLst/>
              <a:ahLst/>
              <a:cxnLst/>
              <a:rect l="l" t="t" r="r" b="b"/>
              <a:pathLst>
                <a:path w="2862669" h="816956">
                  <a:moveTo>
                    <a:pt x="36326" y="0"/>
                  </a:moveTo>
                  <a:lnTo>
                    <a:pt x="2826343" y="0"/>
                  </a:lnTo>
                  <a:cubicBezTo>
                    <a:pt x="2835977" y="0"/>
                    <a:pt x="2845217" y="3827"/>
                    <a:pt x="2852030" y="10640"/>
                  </a:cubicBezTo>
                  <a:cubicBezTo>
                    <a:pt x="2858842" y="17452"/>
                    <a:pt x="2862669" y="26692"/>
                    <a:pt x="2862669" y="36326"/>
                  </a:cubicBezTo>
                  <a:lnTo>
                    <a:pt x="2862669" y="780630"/>
                  </a:lnTo>
                  <a:cubicBezTo>
                    <a:pt x="2862669" y="790264"/>
                    <a:pt x="2858842" y="799504"/>
                    <a:pt x="2852030" y="806317"/>
                  </a:cubicBezTo>
                  <a:cubicBezTo>
                    <a:pt x="2845217" y="813129"/>
                    <a:pt x="2835977" y="816956"/>
                    <a:pt x="2826343" y="816956"/>
                  </a:cubicBezTo>
                  <a:lnTo>
                    <a:pt x="36326" y="816956"/>
                  </a:lnTo>
                  <a:cubicBezTo>
                    <a:pt x="26692" y="816956"/>
                    <a:pt x="17452" y="813129"/>
                    <a:pt x="10640" y="806317"/>
                  </a:cubicBezTo>
                  <a:cubicBezTo>
                    <a:pt x="3827" y="799504"/>
                    <a:pt x="0" y="790264"/>
                    <a:pt x="0" y="780630"/>
                  </a:cubicBezTo>
                  <a:lnTo>
                    <a:pt x="0" y="36326"/>
                  </a:lnTo>
                  <a:cubicBezTo>
                    <a:pt x="0" y="26692"/>
                    <a:pt x="3827" y="17452"/>
                    <a:pt x="10640" y="10640"/>
                  </a:cubicBezTo>
                  <a:cubicBezTo>
                    <a:pt x="17452" y="3827"/>
                    <a:pt x="26692" y="0"/>
                    <a:pt x="3632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862669" cy="855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7715" y="281223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172987" y="5571533"/>
            <a:ext cx="9938267" cy="104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8"/>
              </a:lnSpc>
            </a:pP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Хора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нуждаещи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се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помощ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имат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възможността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получат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тази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помощ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лесна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комуникация</a:t>
            </a:r>
            <a:r>
              <a:rPr lang="en-US" sz="2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295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13693" y="294211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7728" y="486623"/>
            <a:ext cx="3292554" cy="148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Демо</a:t>
            </a:r>
            <a:endParaRPr lang="en-US" sz="9200" b="1" dirty="0" err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226050" y="2431844"/>
            <a:ext cx="7842456" cy="7842456"/>
          </a:xfrm>
          <a:custGeom>
            <a:avLst/>
            <a:gdLst/>
            <a:ahLst/>
            <a:cxnLst/>
            <a:rect l="l" t="t" r="r" b="b"/>
            <a:pathLst>
              <a:path w="7842456" h="7842456">
                <a:moveTo>
                  <a:pt x="0" y="0"/>
                </a:moveTo>
                <a:lnTo>
                  <a:pt x="7842456" y="0"/>
                </a:lnTo>
                <a:lnTo>
                  <a:pt x="7842456" y="7842456"/>
                </a:lnTo>
                <a:lnTo>
                  <a:pt x="0" y="7842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E90631-F221-DCB6-F6D3-56206BE30705}"/>
              </a:ext>
            </a:extLst>
          </p:cNvPr>
          <p:cNvSpPr/>
          <p:nvPr/>
        </p:nvSpPr>
        <p:spPr>
          <a:xfrm>
            <a:off x="701635" y="2962460"/>
            <a:ext cx="6626556" cy="59249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193676" y="2566426"/>
            <a:ext cx="5784475" cy="3103474"/>
            <a:chOff x="0" y="0"/>
            <a:chExt cx="7712634" cy="4137965"/>
          </a:xfrm>
        </p:grpSpPr>
        <p:sp>
          <p:nvSpPr>
            <p:cNvPr id="15" name="Freeform 15" descr="Can HTML, CSS and JavaScript create a website? | UltimateWB Blog | Web  Design Tips, News &amp; Insights"/>
            <p:cNvSpPr/>
            <p:nvPr/>
          </p:nvSpPr>
          <p:spPr>
            <a:xfrm>
              <a:off x="0" y="0"/>
              <a:ext cx="7712583" cy="4137914"/>
            </a:xfrm>
            <a:custGeom>
              <a:avLst/>
              <a:gdLst/>
              <a:ahLst/>
              <a:cxnLst/>
              <a:rect l="l" t="t" r="r" b="b"/>
              <a:pathLst>
                <a:path w="7712583" h="4137914">
                  <a:moveTo>
                    <a:pt x="0" y="0"/>
                  </a:moveTo>
                  <a:lnTo>
                    <a:pt x="7712583" y="0"/>
                  </a:lnTo>
                  <a:lnTo>
                    <a:pt x="7712583" y="4137914"/>
                  </a:lnTo>
                  <a:lnTo>
                    <a:pt x="0" y="413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534" b="-153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flipH="1">
            <a:off x="20085285" y="2736967"/>
            <a:ext cx="544442" cy="5923004"/>
            <a:chOff x="0" y="0"/>
            <a:chExt cx="1895450" cy="15394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95450" cy="1539443"/>
            </a:xfrm>
            <a:custGeom>
              <a:avLst/>
              <a:gdLst/>
              <a:ahLst/>
              <a:cxnLst/>
              <a:rect l="l" t="t" r="r" b="b"/>
              <a:pathLst>
                <a:path w="1895450" h="1539443">
                  <a:moveTo>
                    <a:pt x="54863" y="0"/>
                  </a:moveTo>
                  <a:lnTo>
                    <a:pt x="1840586" y="0"/>
                  </a:lnTo>
                  <a:cubicBezTo>
                    <a:pt x="1870887" y="0"/>
                    <a:pt x="1895450" y="24563"/>
                    <a:pt x="1895450" y="54863"/>
                  </a:cubicBezTo>
                  <a:lnTo>
                    <a:pt x="1895450" y="1484580"/>
                  </a:lnTo>
                  <a:cubicBezTo>
                    <a:pt x="1895450" y="1514880"/>
                    <a:pt x="1870887" y="1539443"/>
                    <a:pt x="1840586" y="1539443"/>
                  </a:cubicBezTo>
                  <a:lnTo>
                    <a:pt x="54863" y="1539443"/>
                  </a:lnTo>
                  <a:cubicBezTo>
                    <a:pt x="24563" y="1539443"/>
                    <a:pt x="0" y="1514880"/>
                    <a:pt x="0" y="1484580"/>
                  </a:cubicBezTo>
                  <a:lnTo>
                    <a:pt x="0" y="54863"/>
                  </a:lnTo>
                  <a:cubicBezTo>
                    <a:pt x="0" y="24563"/>
                    <a:pt x="24563" y="0"/>
                    <a:pt x="5486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895450" cy="1577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05775" y="3236738"/>
            <a:ext cx="4087901" cy="2433161"/>
            <a:chOff x="0" y="0"/>
            <a:chExt cx="5450535" cy="3244215"/>
          </a:xfrm>
        </p:grpSpPr>
        <p:sp>
          <p:nvSpPr>
            <p:cNvPr id="20" name="Freeform 20" descr="Git and GitHub for Beginners I(Tutorial) | by PJ Wang | CS Note | Medium"/>
            <p:cNvSpPr/>
            <p:nvPr/>
          </p:nvSpPr>
          <p:spPr>
            <a:xfrm>
              <a:off x="0" y="0"/>
              <a:ext cx="5450586" cy="3244215"/>
            </a:xfrm>
            <a:custGeom>
              <a:avLst/>
              <a:gdLst/>
              <a:ahLst/>
              <a:cxnLst/>
              <a:rect l="l" t="t" r="r" b="b"/>
              <a:pathLst>
                <a:path w="5450586" h="3244215">
                  <a:moveTo>
                    <a:pt x="0" y="0"/>
                  </a:moveTo>
                  <a:lnTo>
                    <a:pt x="5450586" y="0"/>
                  </a:lnTo>
                  <a:lnTo>
                    <a:pt x="5450586" y="3244215"/>
                  </a:lnTo>
                  <a:lnTo>
                    <a:pt x="0" y="3244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33" r="-293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8105775" y="5793724"/>
            <a:ext cx="5264525" cy="2455212"/>
            <a:chOff x="0" y="0"/>
            <a:chExt cx="7019366" cy="3273616"/>
          </a:xfrm>
        </p:grpSpPr>
        <p:sp>
          <p:nvSpPr>
            <p:cNvPr id="22" name="Freeform 22" descr="Elevate🚀Your Data Science📊Game: VS Code Setup Guide ✨ | by Ravi Kumar |  Dev Genius"/>
            <p:cNvSpPr/>
            <p:nvPr/>
          </p:nvSpPr>
          <p:spPr>
            <a:xfrm>
              <a:off x="0" y="0"/>
              <a:ext cx="7019417" cy="3273552"/>
            </a:xfrm>
            <a:custGeom>
              <a:avLst/>
              <a:gdLst/>
              <a:ahLst/>
              <a:cxnLst/>
              <a:rect l="l" t="t" r="r" b="b"/>
              <a:pathLst>
                <a:path w="7019417" h="3273552">
                  <a:moveTo>
                    <a:pt x="0" y="0"/>
                  </a:moveTo>
                  <a:lnTo>
                    <a:pt x="7019417" y="0"/>
                  </a:lnTo>
                  <a:lnTo>
                    <a:pt x="7019417" y="3273552"/>
                  </a:lnTo>
                  <a:lnTo>
                    <a:pt x="0" y="327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27" b="-629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372144" y="6108682"/>
            <a:ext cx="2140254" cy="2140254"/>
          </a:xfrm>
          <a:custGeom>
            <a:avLst/>
            <a:gdLst/>
            <a:ahLst/>
            <a:cxnLst/>
            <a:rect l="l" t="t" r="r" b="b"/>
            <a:pathLst>
              <a:path w="2140254" h="2140254">
                <a:moveTo>
                  <a:pt x="0" y="0"/>
                </a:moveTo>
                <a:lnTo>
                  <a:pt x="2140254" y="0"/>
                </a:lnTo>
                <a:lnTo>
                  <a:pt x="2140254" y="2140254"/>
                </a:lnTo>
                <a:lnTo>
                  <a:pt x="0" y="2140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87715" y="294211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38682" y="580207"/>
            <a:ext cx="9810636" cy="99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Използвани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технологии</a:t>
            </a:r>
            <a:r>
              <a:rPr lang="en-US" sz="6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6723" y="3453266"/>
            <a:ext cx="6188516" cy="498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Използвани</a:t>
            </a:r>
            <a:r>
              <a:rPr lang="en-US" sz="3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технологии</a:t>
            </a:r>
            <a:r>
              <a:rPr lang="en-US" sz="39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marL="913130" lvl="2" indent="-304165" algn="l">
              <a:lnSpc>
                <a:spcPts val="5598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Django;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3130" lvl="2" indent="-304165" algn="l">
              <a:lnSpc>
                <a:spcPts val="5598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HTML;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3130" lvl="2" indent="-304165" algn="l">
              <a:lnSpc>
                <a:spcPts val="5598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CSS;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3130" lvl="2" indent="-304165" algn="l">
              <a:lnSpc>
                <a:spcPts val="5598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JavaScript;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13130" lvl="2" indent="-304165" algn="l">
              <a:lnSpc>
                <a:spcPts val="5598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VS Code;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907415" lvl="2" indent="-302260" algn="l">
              <a:lnSpc>
                <a:spcPts val="5599"/>
              </a:lnSpc>
              <a:buFont typeface="Arial"/>
              <a:buChar char="⚬"/>
            </a:pPr>
            <a:r>
              <a:rPr lang="en-US" sz="395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Git &amp; GitHub;</a:t>
            </a:r>
            <a:endParaRPr lang="en-US" sz="3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525155-75DA-7787-D95B-55891C29210A}"/>
              </a:ext>
            </a:extLst>
          </p:cNvPr>
          <p:cNvSpPr/>
          <p:nvPr/>
        </p:nvSpPr>
        <p:spPr>
          <a:xfrm>
            <a:off x="4078495" y="3660300"/>
            <a:ext cx="10115243" cy="500889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Freeform 14"/>
          <p:cNvSpPr/>
          <p:nvPr/>
        </p:nvSpPr>
        <p:spPr>
          <a:xfrm flipH="1" flipV="1">
            <a:off x="19660294" y="1978324"/>
            <a:ext cx="85928" cy="589157"/>
          </a:xfrm>
          <a:custGeom>
            <a:avLst/>
            <a:gdLst/>
            <a:ahLst/>
            <a:cxnLst/>
            <a:rect l="l" t="t" r="r" b="b"/>
            <a:pathLst>
              <a:path w="12902708" h="6125966">
                <a:moveTo>
                  <a:pt x="0" y="0"/>
                </a:moveTo>
                <a:lnTo>
                  <a:pt x="12902708" y="0"/>
                </a:lnTo>
                <a:lnTo>
                  <a:pt x="12902708" y="6125965"/>
                </a:lnTo>
                <a:lnTo>
                  <a:pt x="0" y="6125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75080" y="294211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56774" y="112905"/>
            <a:ext cx="6974443" cy="206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chemeClr val="bg1"/>
                </a:solidFill>
                <a:latin typeface="Tahoma"/>
                <a:ea typeface="Tahoma"/>
                <a:cs typeface="Tahoma"/>
                <a:sym typeface="Canva Sans Bold"/>
              </a:rPr>
              <a:t>Процес</a:t>
            </a:r>
            <a:r>
              <a:rPr lang="en-US" sz="6000" b="1" dirty="0">
                <a:solidFill>
                  <a:schemeClr val="bg1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Tahoma"/>
                <a:ea typeface="Tahoma"/>
                <a:cs typeface="Tahoma"/>
                <a:sym typeface="Canva Sans Bold"/>
              </a:rPr>
              <a:t>на</a:t>
            </a:r>
            <a:r>
              <a:rPr lang="en-US" sz="6000" b="1" dirty="0">
                <a:solidFill>
                  <a:schemeClr val="bg1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Tahoma"/>
                <a:ea typeface="Tahoma"/>
                <a:cs typeface="Tahoma"/>
                <a:sym typeface="Canva Sans Bold"/>
              </a:rPr>
              <a:t>работа</a:t>
            </a:r>
            <a:r>
              <a:rPr lang="en-US" sz="6000" b="1" dirty="0">
                <a:solidFill>
                  <a:schemeClr val="bg1"/>
                </a:solidFill>
                <a:latin typeface="Rockwell"/>
                <a:ea typeface="Calibri"/>
                <a:cs typeface="Calibri"/>
                <a:sym typeface="Canva Sans Bold"/>
              </a:rPr>
              <a:t>​</a:t>
            </a:r>
            <a:endParaRPr lang="en-US" sz="6000">
              <a:solidFill>
                <a:schemeClr val="bg1"/>
              </a:solidFill>
              <a:latin typeface="Rockwell"/>
              <a:ea typeface="Calibri"/>
              <a:cs typeface="Calibri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4636185" y="2436599"/>
            <a:ext cx="3647513" cy="3739963"/>
            <a:chOff x="0" y="0"/>
            <a:chExt cx="5053851" cy="4986617"/>
          </a:xfrm>
        </p:grpSpPr>
        <p:sp>
          <p:nvSpPr>
            <p:cNvPr id="18" name="Freeform 18" descr="man technologist Emoji 👨‍💻 (U+1F468, U+200D, U+1F4BB)"/>
            <p:cNvSpPr/>
            <p:nvPr/>
          </p:nvSpPr>
          <p:spPr>
            <a:xfrm>
              <a:off x="0" y="0"/>
              <a:ext cx="5053838" cy="4986655"/>
            </a:xfrm>
            <a:custGeom>
              <a:avLst/>
              <a:gdLst/>
              <a:ahLst/>
              <a:cxnLst/>
              <a:rect l="l" t="t" r="r" b="b"/>
              <a:pathLst>
                <a:path w="5053838" h="4986655">
                  <a:moveTo>
                    <a:pt x="0" y="0"/>
                  </a:moveTo>
                  <a:lnTo>
                    <a:pt x="5053838" y="0"/>
                  </a:lnTo>
                  <a:lnTo>
                    <a:pt x="5053838" y="4986655"/>
                  </a:lnTo>
                  <a:lnTo>
                    <a:pt x="0" y="4986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4" b="-673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 flipH="1" flipV="1">
            <a:off x="19014221" y="716534"/>
            <a:ext cx="184946" cy="76145"/>
            <a:chOff x="-4554550" y="-38100"/>
            <a:chExt cx="7398392" cy="1506346"/>
          </a:xfrm>
        </p:grpSpPr>
        <p:sp>
          <p:nvSpPr>
            <p:cNvPr id="20" name="Freeform 20"/>
            <p:cNvSpPr/>
            <p:nvPr/>
          </p:nvSpPr>
          <p:spPr>
            <a:xfrm rot="4080000">
              <a:off x="-1630196" y="-2349714"/>
              <a:ext cx="643181" cy="6491889"/>
            </a:xfrm>
            <a:custGeom>
              <a:avLst/>
              <a:gdLst/>
              <a:ahLst/>
              <a:cxnLst/>
              <a:rect l="l" t="t" r="r" b="b"/>
              <a:pathLst>
                <a:path w="2843842" h="1468246">
                  <a:moveTo>
                    <a:pt x="36567" y="0"/>
                  </a:moveTo>
                  <a:lnTo>
                    <a:pt x="2807276" y="0"/>
                  </a:lnTo>
                  <a:cubicBezTo>
                    <a:pt x="2827471" y="0"/>
                    <a:pt x="2843842" y="16372"/>
                    <a:pt x="2843842" y="36567"/>
                  </a:cubicBezTo>
                  <a:lnTo>
                    <a:pt x="2843842" y="1431679"/>
                  </a:lnTo>
                  <a:cubicBezTo>
                    <a:pt x="2843842" y="1451875"/>
                    <a:pt x="2827471" y="1468246"/>
                    <a:pt x="2807276" y="1468246"/>
                  </a:cubicBezTo>
                  <a:lnTo>
                    <a:pt x="36567" y="1468246"/>
                  </a:lnTo>
                  <a:cubicBezTo>
                    <a:pt x="16372" y="1468246"/>
                    <a:pt x="0" y="1451875"/>
                    <a:pt x="0" y="1431679"/>
                  </a:cubicBezTo>
                  <a:lnTo>
                    <a:pt x="0" y="36567"/>
                  </a:lnTo>
                  <a:cubicBezTo>
                    <a:pt x="0" y="16372"/>
                    <a:pt x="16372" y="0"/>
                    <a:pt x="3656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43842" cy="1506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855501" y="4304365"/>
            <a:ext cx="10588506" cy="4280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3710" lvl="2" algn="l">
              <a:lnSpc>
                <a:spcPts val="4199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Работа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върху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 Frontend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и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Backend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pPr marL="709930" lvl="2" indent="-236220">
              <a:lnSpc>
                <a:spcPts val="4199"/>
              </a:lnSpc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Frontend (HTML,CSS)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Тервел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Милен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Борис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09930" lvl="2" indent="-236220">
              <a:lnSpc>
                <a:spcPts val="4199"/>
              </a:lnSpc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Backend (Django)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Иван-Асен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Иван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Езекиев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</a:t>
            </a:r>
          </a:p>
          <a:p>
            <a:pPr marL="473710" lvl="2">
              <a:lnSpc>
                <a:spcPts val="4199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Работа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върху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Frontend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и 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Backend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+Презентация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      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       Frontend(HTML,CSS)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Тервел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Милен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Борис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    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libri"/>
                <a:cs typeface="Calibri"/>
                <a:sym typeface="Canva Sans"/>
              </a:rPr>
              <a:t>      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      Backend (Django)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Иван-Асен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Иван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Езекиев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; 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nva Sans"/>
              </a:rPr>
              <a:t>        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Презентация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Тервел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Милен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09930" lvl="2" indent="-236643" algn="l">
              <a:lnSpc>
                <a:spcPts val="4199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351" b="-1351"/>
            </a:stretch>
          </a:blipFill>
        </p:spPr>
      </p:sp>
      <p:sp>
        <p:nvSpPr>
          <p:cNvPr id="26" name="Freeform 19" descr="preencoded.png">
            <a:extLst>
              <a:ext uri="{FF2B5EF4-FFF2-40B4-BE49-F238E27FC236}">
                <a16:creationId xmlns:a16="http://schemas.microsoft.com/office/drawing/2014/main" id="{1E134B25-C04D-832C-05C3-501327FFA6DE}"/>
              </a:ext>
            </a:extLst>
          </p:cNvPr>
          <p:cNvSpPr/>
          <p:nvPr/>
        </p:nvSpPr>
        <p:spPr>
          <a:xfrm>
            <a:off x="13561868" y="7129186"/>
            <a:ext cx="5449443" cy="3672459"/>
          </a:xfrm>
          <a:custGeom>
            <a:avLst/>
            <a:gdLst/>
            <a:ahLst/>
            <a:cxnLst/>
            <a:rect l="l" t="t" r="r" b="b"/>
            <a:pathLst>
              <a:path w="7265924" h="4896612">
                <a:moveTo>
                  <a:pt x="0" y="0"/>
                </a:moveTo>
                <a:lnTo>
                  <a:pt x="7265924" y="0"/>
                </a:lnTo>
                <a:lnTo>
                  <a:pt x="7265924" y="4896612"/>
                </a:lnTo>
                <a:lnTo>
                  <a:pt x="0" y="48966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0" r="-80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7012A6F-B2C7-50CC-4BC2-CF841ADC9CF4}"/>
              </a:ext>
            </a:extLst>
          </p:cNvPr>
          <p:cNvSpPr/>
          <p:nvPr/>
        </p:nvSpPr>
        <p:spPr>
          <a:xfrm>
            <a:off x="1910062" y="6821524"/>
            <a:ext cx="8484554" cy="1695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99CE429-FE08-0EBB-B4DB-B88AFFE4E79B}"/>
              </a:ext>
            </a:extLst>
          </p:cNvPr>
          <p:cNvSpPr/>
          <p:nvPr/>
        </p:nvSpPr>
        <p:spPr>
          <a:xfrm>
            <a:off x="1910076" y="4879053"/>
            <a:ext cx="8484539" cy="18060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2F451D8-CE30-255D-175A-14D291D9B72C}"/>
              </a:ext>
            </a:extLst>
          </p:cNvPr>
          <p:cNvSpPr/>
          <p:nvPr/>
        </p:nvSpPr>
        <p:spPr>
          <a:xfrm>
            <a:off x="1916606" y="3059909"/>
            <a:ext cx="8490985" cy="16436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09783" y="275881"/>
            <a:ext cx="2362038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49584" y="550832"/>
            <a:ext cx="8788841" cy="96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Нашето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преживяване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​</a:t>
            </a:r>
            <a:endParaRPr lang="en-US" sz="6000" b="1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8788972" y="1725708"/>
            <a:ext cx="9480766" cy="3676650"/>
            <a:chOff x="0" y="0"/>
            <a:chExt cx="12641021" cy="49022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2641072" cy="4902200"/>
            </a:xfrm>
            <a:custGeom>
              <a:avLst/>
              <a:gdLst/>
              <a:ahLst/>
              <a:cxnLst/>
              <a:rect l="l" t="t" r="r" b="b"/>
              <a:pathLst>
                <a:path w="12641072" h="4902200">
                  <a:moveTo>
                    <a:pt x="0" y="0"/>
                  </a:moveTo>
                  <a:lnTo>
                    <a:pt x="12641072" y="0"/>
                  </a:lnTo>
                  <a:lnTo>
                    <a:pt x="12641072" y="4902200"/>
                  </a:lnTo>
                  <a:lnTo>
                    <a:pt x="0" y="490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02" r="-280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1457709" y="7129186"/>
            <a:ext cx="5449472" cy="3672478"/>
            <a:chOff x="0" y="0"/>
            <a:chExt cx="7265962" cy="4896637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7265924" cy="4896612"/>
            </a:xfrm>
            <a:custGeom>
              <a:avLst/>
              <a:gdLst/>
              <a:ahLst/>
              <a:cxnLst/>
              <a:rect l="l" t="t" r="r" b="b"/>
              <a:pathLst>
                <a:path w="7265924" h="4896612">
                  <a:moveTo>
                    <a:pt x="0" y="0"/>
                  </a:moveTo>
                  <a:lnTo>
                    <a:pt x="7265924" y="0"/>
                  </a:lnTo>
                  <a:lnTo>
                    <a:pt x="7265924" y="4896612"/>
                  </a:lnTo>
                  <a:lnTo>
                    <a:pt x="0" y="4896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00" r="-80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749794" y="4699542"/>
            <a:ext cx="3759013" cy="3979212"/>
            <a:chOff x="0" y="0"/>
            <a:chExt cx="5012017" cy="5305616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5012055" cy="5305552"/>
            </a:xfrm>
            <a:custGeom>
              <a:avLst/>
              <a:gdLst/>
              <a:ahLst/>
              <a:cxnLst/>
              <a:rect l="l" t="t" r="r" b="b"/>
              <a:pathLst>
                <a:path w="5012055" h="5305552">
                  <a:moveTo>
                    <a:pt x="0" y="0"/>
                  </a:moveTo>
                  <a:lnTo>
                    <a:pt x="5012055" y="0"/>
                  </a:lnTo>
                  <a:lnTo>
                    <a:pt x="5012055" y="5305552"/>
                  </a:lnTo>
                  <a:lnTo>
                    <a:pt x="0" y="530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8" r="-357" b="-1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-2190810" y="4065906"/>
            <a:ext cx="1916315" cy="4453450"/>
            <a:chOff x="-1315211" y="-1996198"/>
            <a:chExt cx="3555997" cy="3639676"/>
          </a:xfrm>
        </p:grpSpPr>
        <p:sp>
          <p:nvSpPr>
            <p:cNvPr id="24" name="Freeform 24"/>
            <p:cNvSpPr/>
            <p:nvPr/>
          </p:nvSpPr>
          <p:spPr>
            <a:xfrm>
              <a:off x="-1315211" y="-1996198"/>
              <a:ext cx="557317" cy="413026"/>
            </a:xfrm>
            <a:custGeom>
              <a:avLst/>
              <a:gdLst/>
              <a:ahLst/>
              <a:cxnLst/>
              <a:rect l="l" t="t" r="r" b="b"/>
              <a:pathLst>
                <a:path w="2240786" h="1643478">
                  <a:moveTo>
                    <a:pt x="46408" y="0"/>
                  </a:moveTo>
                  <a:lnTo>
                    <a:pt x="2194377" y="0"/>
                  </a:lnTo>
                  <a:cubicBezTo>
                    <a:pt x="2206686" y="0"/>
                    <a:pt x="2218490" y="4889"/>
                    <a:pt x="2227193" y="13593"/>
                  </a:cubicBezTo>
                  <a:cubicBezTo>
                    <a:pt x="2235896" y="22296"/>
                    <a:pt x="2240786" y="34100"/>
                    <a:pt x="2240786" y="46408"/>
                  </a:cubicBezTo>
                  <a:lnTo>
                    <a:pt x="2240786" y="1597070"/>
                  </a:lnTo>
                  <a:cubicBezTo>
                    <a:pt x="2240786" y="1609378"/>
                    <a:pt x="2235896" y="1621182"/>
                    <a:pt x="2227193" y="1629885"/>
                  </a:cubicBezTo>
                  <a:cubicBezTo>
                    <a:pt x="2218490" y="1638588"/>
                    <a:pt x="2206686" y="1643478"/>
                    <a:pt x="2194377" y="1643478"/>
                  </a:cubicBezTo>
                  <a:lnTo>
                    <a:pt x="46408" y="1643478"/>
                  </a:lnTo>
                  <a:cubicBezTo>
                    <a:pt x="20778" y="1643478"/>
                    <a:pt x="0" y="1622700"/>
                    <a:pt x="0" y="1597070"/>
                  </a:cubicBezTo>
                  <a:lnTo>
                    <a:pt x="0" y="46408"/>
                  </a:lnTo>
                  <a:cubicBezTo>
                    <a:pt x="0" y="20778"/>
                    <a:pt x="20778" y="0"/>
                    <a:pt x="464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40786" cy="1681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367927" y="7125755"/>
            <a:ext cx="765386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Какво научихме - основите и изграждането на уебсайт.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62952" y="4876550"/>
            <a:ext cx="7429814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/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 ментора - много приятен, помагащ, научи ни на много нови неща.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62952" y="3360072"/>
            <a:ext cx="882337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 нас - Писане на код, стоене на стол за часове, малки разходки, малко сън.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163021-E039-08B2-AC6C-1280E5B477EF}"/>
              </a:ext>
            </a:extLst>
          </p:cNvPr>
          <p:cNvSpPr/>
          <p:nvPr/>
        </p:nvSpPr>
        <p:spPr>
          <a:xfrm>
            <a:off x="3222316" y="3567786"/>
            <a:ext cx="11849842" cy="531424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44656"/>
            <a:ext cx="18288000" cy="2589200"/>
          </a:xfrm>
          <a:custGeom>
            <a:avLst/>
            <a:gdLst/>
            <a:ahLst/>
            <a:cxnLst/>
            <a:rect l="l" t="t" r="r" b="b"/>
            <a:pathLst>
              <a:path w="18288000" h="2589200">
                <a:moveTo>
                  <a:pt x="0" y="0"/>
                </a:moveTo>
                <a:lnTo>
                  <a:pt x="18288000" y="0"/>
                </a:lnTo>
                <a:lnTo>
                  <a:pt x="18288000" y="2589200"/>
                </a:lnTo>
                <a:lnTo>
                  <a:pt x="0" y="258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313693" y="307200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  <a:endParaRPr lang="en-US" sz="3600" b="1" dirty="0" err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49584" y="616544"/>
            <a:ext cx="8788841" cy="96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Бъдещо</a:t>
            </a:r>
            <a:r>
              <a:rPr lang="en-US" sz="6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ahoma"/>
                <a:ea typeface="Tahoma"/>
                <a:cs typeface="Tahoma"/>
                <a:sym typeface="Canva Sans Bold"/>
              </a:rPr>
              <a:t>развитие</a:t>
            </a:r>
            <a:endParaRPr lang="en-US" sz="6000" b="1" dirty="0" err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053584" y="368455"/>
            <a:ext cx="1396037" cy="1452600"/>
            <a:chOff x="0" y="0"/>
            <a:chExt cx="2061223" cy="2144738"/>
          </a:xfrm>
        </p:grpSpPr>
        <p:sp>
          <p:nvSpPr>
            <p:cNvPr id="17" name="Freeform 17" descr="thinking face Emoji 🤔 (U+1F914)"/>
            <p:cNvSpPr/>
            <p:nvPr/>
          </p:nvSpPr>
          <p:spPr>
            <a:xfrm>
              <a:off x="0" y="0"/>
              <a:ext cx="2061210" cy="2144776"/>
            </a:xfrm>
            <a:custGeom>
              <a:avLst/>
              <a:gdLst/>
              <a:ahLst/>
              <a:cxnLst/>
              <a:rect l="l" t="t" r="r" b="b"/>
              <a:pathLst>
                <a:path w="2061210" h="2144776">
                  <a:moveTo>
                    <a:pt x="1030605" y="0"/>
                  </a:moveTo>
                  <a:lnTo>
                    <a:pt x="1030605" y="0"/>
                  </a:lnTo>
                  <a:cubicBezTo>
                    <a:pt x="1599792" y="0"/>
                    <a:pt x="2061210" y="461418"/>
                    <a:pt x="2061210" y="1030605"/>
                  </a:cubicBezTo>
                  <a:lnTo>
                    <a:pt x="2061210" y="1114171"/>
                  </a:lnTo>
                  <a:cubicBezTo>
                    <a:pt x="2061210" y="1683358"/>
                    <a:pt x="1599792" y="2144776"/>
                    <a:pt x="1030605" y="2144776"/>
                  </a:cubicBezTo>
                  <a:lnTo>
                    <a:pt x="1030605" y="2144776"/>
                  </a:lnTo>
                  <a:cubicBezTo>
                    <a:pt x="461418" y="2144776"/>
                    <a:pt x="0" y="1683358"/>
                    <a:pt x="0" y="1114171"/>
                  </a:cubicBezTo>
                  <a:lnTo>
                    <a:pt x="0" y="1030605"/>
                  </a:lnTo>
                  <a:cubicBezTo>
                    <a:pt x="0" y="461418"/>
                    <a:pt x="461418" y="0"/>
                    <a:pt x="1030605" y="0"/>
                  </a:cubicBezTo>
                  <a:close/>
                </a:path>
              </a:pathLst>
            </a:custGeom>
            <a:blipFill>
              <a:blip r:embed="rId4"/>
              <a:stretch>
                <a:fillRect l="-2027" t="-1" r="-202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950808" y="230896"/>
            <a:ext cx="3308492" cy="2337947"/>
            <a:chOff x="0" y="0"/>
            <a:chExt cx="2055165" cy="145228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2055114" cy="1452245"/>
            </a:xfrm>
            <a:custGeom>
              <a:avLst/>
              <a:gdLst/>
              <a:ahLst/>
              <a:cxnLst/>
              <a:rect l="l" t="t" r="r" b="b"/>
              <a:pathLst>
                <a:path w="2055114" h="1452245">
                  <a:moveTo>
                    <a:pt x="0" y="0"/>
                  </a:moveTo>
                  <a:lnTo>
                    <a:pt x="2055114" y="0"/>
                  </a:lnTo>
                  <a:lnTo>
                    <a:pt x="2055114" y="1452245"/>
                  </a:lnTo>
                  <a:lnTo>
                    <a:pt x="0" y="1452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475" r="-2" b="-4479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683800" y="3948318"/>
            <a:ext cx="10922250" cy="454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Рейтинг;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"Пробен период" на доброволец;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История на активността;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Докладване от общността при съмнително поведение;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Верификация на хората;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История на активността;</a:t>
            </a:r>
          </a:p>
          <a:p>
            <a:pPr marL="361948" lvl="1" indent="-180974" algn="l">
              <a:lnSpc>
                <a:spcPts val="52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Чат преди запознаване;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4656"/>
            <a:ext cx="18288000" cy="6611417"/>
          </a:xfrm>
          <a:custGeom>
            <a:avLst/>
            <a:gdLst/>
            <a:ahLst/>
            <a:cxnLst/>
            <a:rect l="l" t="t" r="r" b="b"/>
            <a:pathLst>
              <a:path w="18288000" h="6611417">
                <a:moveTo>
                  <a:pt x="0" y="0"/>
                </a:moveTo>
                <a:lnTo>
                  <a:pt x="18288000" y="0"/>
                </a:lnTo>
                <a:lnTo>
                  <a:pt x="18288000" y="6611417"/>
                </a:lnTo>
                <a:lnTo>
                  <a:pt x="0" y="6611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926" y="230896"/>
            <a:ext cx="782203" cy="684428"/>
          </a:xfrm>
          <a:custGeom>
            <a:avLst/>
            <a:gdLst/>
            <a:ahLst/>
            <a:cxnLst/>
            <a:rect l="l" t="t" r="r" b="b"/>
            <a:pathLst>
              <a:path w="782203" h="684428">
                <a:moveTo>
                  <a:pt x="0" y="0"/>
                </a:moveTo>
                <a:lnTo>
                  <a:pt x="782202" y="0"/>
                </a:lnTo>
                <a:lnTo>
                  <a:pt x="782202" y="684428"/>
                </a:lnTo>
                <a:lnTo>
                  <a:pt x="0" y="68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67255" y="570433"/>
            <a:ext cx="224047" cy="9525"/>
            <a:chOff x="0" y="0"/>
            <a:chExt cx="298729" cy="12700"/>
          </a:xfrm>
        </p:grpSpPr>
        <p:sp>
          <p:nvSpPr>
            <p:cNvPr id="5" name="Freeform 5"/>
            <p:cNvSpPr/>
            <p:nvPr/>
          </p:nvSpPr>
          <p:spPr>
            <a:xfrm>
              <a:off x="6350" y="0"/>
              <a:ext cx="286004" cy="12700"/>
            </a:xfrm>
            <a:custGeom>
              <a:avLst/>
              <a:gdLst/>
              <a:ahLst/>
              <a:cxnLst/>
              <a:rect l="l" t="t" r="r" b="b"/>
              <a:pathLst>
                <a:path w="286004" h="12700">
                  <a:moveTo>
                    <a:pt x="0" y="0"/>
                  </a:moveTo>
                  <a:lnTo>
                    <a:pt x="286004" y="0"/>
                  </a:lnTo>
                  <a:lnTo>
                    <a:pt x="2860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81777" y="390716"/>
            <a:ext cx="80953" cy="189243"/>
            <a:chOff x="0" y="0"/>
            <a:chExt cx="107937" cy="252324"/>
          </a:xfrm>
        </p:grpSpPr>
        <p:sp>
          <p:nvSpPr>
            <p:cNvPr id="7" name="Freeform 7"/>
            <p:cNvSpPr/>
            <p:nvPr/>
          </p:nvSpPr>
          <p:spPr>
            <a:xfrm>
              <a:off x="508" y="4064"/>
              <a:ext cx="106934" cy="244221"/>
            </a:xfrm>
            <a:custGeom>
              <a:avLst/>
              <a:gdLst/>
              <a:ahLst/>
              <a:cxnLst/>
              <a:rect l="l" t="t" r="r" b="b"/>
              <a:pathLst>
                <a:path w="106934" h="244221">
                  <a:moveTo>
                    <a:pt x="0" y="239522"/>
                  </a:moveTo>
                  <a:lnTo>
                    <a:pt x="95123" y="0"/>
                  </a:lnTo>
                  <a:lnTo>
                    <a:pt x="106934" y="4699"/>
                  </a:lnTo>
                  <a:lnTo>
                    <a:pt x="11684" y="244221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205" y="393583"/>
            <a:ext cx="120891" cy="362302"/>
            <a:chOff x="0" y="0"/>
            <a:chExt cx="161188" cy="483070"/>
          </a:xfrm>
        </p:grpSpPr>
        <p:sp>
          <p:nvSpPr>
            <p:cNvPr id="9" name="Freeform 9"/>
            <p:cNvSpPr/>
            <p:nvPr/>
          </p:nvSpPr>
          <p:spPr>
            <a:xfrm>
              <a:off x="254" y="4445"/>
              <a:ext cx="160655" cy="474218"/>
            </a:xfrm>
            <a:custGeom>
              <a:avLst/>
              <a:gdLst/>
              <a:ahLst/>
              <a:cxnLst/>
              <a:rect l="l" t="t" r="r" b="b"/>
              <a:pathLst>
                <a:path w="160655" h="474218">
                  <a:moveTo>
                    <a:pt x="12192" y="0"/>
                  </a:moveTo>
                  <a:lnTo>
                    <a:pt x="160655" y="470408"/>
                  </a:lnTo>
                  <a:lnTo>
                    <a:pt x="148590" y="474218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64572" y="570433"/>
            <a:ext cx="87611" cy="182585"/>
            <a:chOff x="0" y="0"/>
            <a:chExt cx="116815" cy="243446"/>
          </a:xfrm>
        </p:grpSpPr>
        <p:sp>
          <p:nvSpPr>
            <p:cNvPr id="11" name="Freeform 11"/>
            <p:cNvSpPr/>
            <p:nvPr/>
          </p:nvSpPr>
          <p:spPr>
            <a:xfrm>
              <a:off x="508" y="3683"/>
              <a:ext cx="115697" cy="235966"/>
            </a:xfrm>
            <a:custGeom>
              <a:avLst/>
              <a:gdLst/>
              <a:ahLst/>
              <a:cxnLst/>
              <a:rect l="l" t="t" r="r" b="b"/>
              <a:pathLst>
                <a:path w="115697" h="235966">
                  <a:moveTo>
                    <a:pt x="0" y="230759"/>
                  </a:moveTo>
                  <a:lnTo>
                    <a:pt x="104140" y="0"/>
                  </a:lnTo>
                  <a:lnTo>
                    <a:pt x="115697" y="5207"/>
                  </a:lnTo>
                  <a:lnTo>
                    <a:pt x="11684" y="235966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42658" y="567566"/>
            <a:ext cx="214065" cy="12392"/>
            <a:chOff x="0" y="0"/>
            <a:chExt cx="285420" cy="16523"/>
          </a:xfrm>
        </p:grpSpPr>
        <p:sp>
          <p:nvSpPr>
            <p:cNvPr id="13" name="Freeform 13"/>
            <p:cNvSpPr/>
            <p:nvPr/>
          </p:nvSpPr>
          <p:spPr>
            <a:xfrm>
              <a:off x="6223" y="0"/>
              <a:ext cx="272923" cy="16510"/>
            </a:xfrm>
            <a:custGeom>
              <a:avLst/>
              <a:gdLst/>
              <a:ahLst/>
              <a:cxnLst/>
              <a:rect l="l" t="t" r="r" b="b"/>
              <a:pathLst>
                <a:path w="272923" h="16510">
                  <a:moveTo>
                    <a:pt x="254" y="0"/>
                  </a:moveTo>
                  <a:lnTo>
                    <a:pt x="272923" y="3810"/>
                  </a:lnTo>
                  <a:lnTo>
                    <a:pt x="272796" y="1651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61FF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692641" y="6649841"/>
            <a:ext cx="12902708" cy="3050905"/>
          </a:xfrm>
          <a:custGeom>
            <a:avLst/>
            <a:gdLst/>
            <a:ahLst/>
            <a:cxnLst/>
            <a:rect l="l" t="t" r="r" b="b"/>
            <a:pathLst>
              <a:path w="12902708" h="3050905">
                <a:moveTo>
                  <a:pt x="0" y="0"/>
                </a:moveTo>
                <a:lnTo>
                  <a:pt x="12902708" y="0"/>
                </a:lnTo>
                <a:lnTo>
                  <a:pt x="12902708" y="3050905"/>
                </a:lnTo>
                <a:lnTo>
                  <a:pt x="0" y="3050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52658" y="294211"/>
            <a:ext cx="2210762" cy="60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00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HelprHub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1919" y="2067706"/>
            <a:ext cx="17090126" cy="3137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Благодарим</a:t>
            </a:r>
            <a:r>
              <a:rPr lang="en-US" sz="92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за</a:t>
            </a:r>
            <a:r>
              <a:rPr lang="en-US" sz="92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920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вниманието</a:t>
            </a:r>
            <a:r>
              <a:rPr lang="en-US" sz="920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!</a:t>
            </a:r>
            <a:endParaRPr lang="en-US" dirty="0">
              <a:latin typeface="Tahoma"/>
              <a:ea typeface="Tahoma"/>
              <a:cs typeface="Tahoma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4859000" y="3750316"/>
            <a:ext cx="3429000" cy="2899524"/>
            <a:chOff x="0" y="0"/>
            <a:chExt cx="4572000" cy="386603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4572000" cy="3866007"/>
            </a:xfrm>
            <a:custGeom>
              <a:avLst/>
              <a:gdLst/>
              <a:ahLst/>
              <a:cxnLst/>
              <a:rect l="l" t="t" r="r" b="b"/>
              <a:pathLst>
                <a:path w="4572000" h="3866007">
                  <a:moveTo>
                    <a:pt x="0" y="0"/>
                  </a:moveTo>
                  <a:lnTo>
                    <a:pt x="4572000" y="0"/>
                  </a:lnTo>
                  <a:lnTo>
                    <a:pt x="4572000" y="3866007"/>
                  </a:lnTo>
                  <a:lnTo>
                    <a:pt x="0" y="3866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53" r="-453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7586863" y="6466761"/>
            <a:ext cx="3820239" cy="3820239"/>
          </a:xfrm>
          <a:custGeom>
            <a:avLst/>
            <a:gdLst/>
            <a:ahLst/>
            <a:cxnLst/>
            <a:rect l="l" t="t" r="r" b="b"/>
            <a:pathLst>
              <a:path w="3820239" h="3820239">
                <a:moveTo>
                  <a:pt x="0" y="0"/>
                </a:moveTo>
                <a:lnTo>
                  <a:pt x="3820239" y="0"/>
                </a:lnTo>
                <a:lnTo>
                  <a:pt x="3820239" y="3820239"/>
                </a:lnTo>
                <a:lnTo>
                  <a:pt x="0" y="3820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Затрудненията на хората който имат увреждания</dc:title>
  <cp:revision>260</cp:revision>
  <dcterms:created xsi:type="dcterms:W3CDTF">2006-08-16T00:00:00Z</dcterms:created>
  <dcterms:modified xsi:type="dcterms:W3CDTF">2026-03-27T22:54:58Z</dcterms:modified>
  <dc:identifier>DAHFKTsrqxs</dc:identifier>
</cp:coreProperties>
</file>